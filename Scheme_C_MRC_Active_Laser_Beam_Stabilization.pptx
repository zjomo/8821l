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92248"/>
                </a:solidFill>
              </a:defRPr>
            </a:pPr>
            <a:r>
              <a:t>Detector resolution: representative literature levels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Representative resolution [μm]</c:v>
                </c:pt>
              </c:strCache>
            </c:strRef>
          </c:tx>
          <c:spPr>
            <a:solidFill>
              <a:srgbClr val="00A6BE"/>
            </a:solidFill>
            <a:ln>
              <a:solidFill>
                <a:srgbClr val="00A6BE"/>
              </a:solidFill>
            </a:ln>
          </c:spPr>
          <c:cat>
            <c:strRef>
              <c:f>Sheet1!$A$2:$A$4</c:f>
              <c:strCache>
                <c:ptCount val="3"/>
                <c:pt idx="0">
                  <c:v>small beam</c:v>
                </c:pt>
                <c:pt idx="1">
                  <c:v>4 mm</c:v>
                </c:pt>
                <c:pt idx="2">
                  <c:v>6 mm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</c:v>
                </c:pt>
                <c:pt idx="1">
                  <c:v>0.5</c:v>
                </c:pt>
                <c:pt idx="2">
                  <c:v>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C5665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/>
        <c:title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C5665"/>
                </a:solidFill>
                <a:latin typeface="Aptos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182880" y="2788920"/>
            <a:ext cx="4251960" cy="2651760"/>
          </a:xfrm>
          <a:prstGeom prst="line">
            <a:avLst/>
          </a:prstGeom>
          <a:ln w="5080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82880" y="3035808"/>
            <a:ext cx="4251960" cy="2651760"/>
          </a:xfrm>
          <a:prstGeom prst="line">
            <a:avLst/>
          </a:prstGeom>
          <a:ln w="15240">
            <a:solidFill>
              <a:srgbClr val="25A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011680" y="5230368"/>
            <a:ext cx="2606040" cy="1627632"/>
          </a:xfrm>
          <a:prstGeom prst="line">
            <a:avLst/>
          </a:prstGeom>
          <a:ln w="25400">
            <a:solidFill>
              <a:srgbClr val="18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097280"/>
            <a:ext cx="361188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主动激光束稳定系统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A6BE"/>
                </a:solidFill>
                <a:latin typeface="Aptos"/>
              </a:rPr>
              <a:t>Active Laser Beam Stabilization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5661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基于双级观测与压电转镜闭环控制的
四轴光束位置—方向稳定架构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94960"/>
            <a:ext cx="3566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0DAEA"/>
                </a:solidFill>
                <a:latin typeface="Aptos"/>
              </a:rPr>
              <a:t>组会汇报 | Literature-based system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06440"/>
            <a:ext cx="3566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0DAEA"/>
                </a:solidFill>
                <a:latin typeface="Microsoft YaHei"/>
              </a:rPr>
              <a:t>方案 C · 第三套视觉主题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914400"/>
            <a:ext cx="58978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92248"/>
                </a:solidFill>
                <a:latin typeface="Microsoft YaHei"/>
              </a:rPr>
              <a:t>从“光斑漂移”到“实时锁定”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1417320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878B8"/>
                </a:solidFill>
                <a:latin typeface="Aptos"/>
              </a:rPr>
              <a:t>Position control + angular control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3794760"/>
            <a:ext cx="5577840" cy="0"/>
          </a:xfrm>
          <a:prstGeom prst="line">
            <a:avLst/>
          </a:prstGeom>
          <a:ln w="15240">
            <a:solidFill>
              <a:srgbClr val="E0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669280" y="2788920"/>
            <a:ext cx="1234440" cy="1005840"/>
          </a:xfrm>
          <a:prstGeom prst="line">
            <a:avLst/>
          </a:prstGeom>
          <a:ln w="5715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2788920"/>
            <a:ext cx="1463040" cy="1005840"/>
          </a:xfrm>
          <a:prstGeom prst="line">
            <a:avLst/>
          </a:prstGeom>
          <a:ln w="5715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366760" y="3090672"/>
            <a:ext cx="1645920" cy="704088"/>
          </a:xfrm>
          <a:prstGeom prst="line">
            <a:avLst/>
          </a:prstGeom>
          <a:ln w="5715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12680" y="3090672"/>
            <a:ext cx="1097280" cy="704088"/>
          </a:xfrm>
          <a:prstGeom prst="line">
            <a:avLst/>
          </a:prstGeom>
          <a:ln w="5715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77840" y="3502152"/>
            <a:ext cx="6400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584448"/>
            <a:ext cx="6400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092248"/>
                </a:solidFill>
                <a:latin typeface="Aptos"/>
              </a:rPr>
              <a:t>Laser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4014216"/>
            <a:ext cx="85953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光源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1112" y="2468880"/>
            <a:ext cx="6400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551176"/>
            <a:ext cx="6400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092248"/>
                </a:solidFill>
                <a:latin typeface="Aptos"/>
              </a:rPr>
              <a:t>Mirror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980944"/>
            <a:ext cx="85953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压电转镜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493008"/>
            <a:ext cx="6400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575303"/>
            <a:ext cx="6400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092248"/>
                </a:solidFill>
                <a:latin typeface="Aptos"/>
              </a:rPr>
              <a:t>Mirror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4005072"/>
            <a:ext cx="85953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压电转镜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74352" y="2807208"/>
            <a:ext cx="6400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2889503"/>
            <a:ext cx="6400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092248"/>
                </a:solidFill>
                <a:latin typeface="Aptos"/>
              </a:rPr>
              <a:t>Detector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4624" y="3319272"/>
            <a:ext cx="85953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位置探测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08208" y="3502152"/>
            <a:ext cx="6400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8208" y="3584448"/>
            <a:ext cx="64008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092248"/>
                </a:solidFill>
                <a:latin typeface="Aptos"/>
              </a:rPr>
              <a:t>Detector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4014216"/>
            <a:ext cx="85953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角度探测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4754880"/>
            <a:ext cx="5166360" cy="731520"/>
          </a:xfrm>
          <a:prstGeom prst="roundRect">
            <a:avLst/>
          </a:prstGeom>
          <a:solidFill>
            <a:srgbClr val="E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5001768"/>
            <a:ext cx="4754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92248"/>
                </a:solidFill>
                <a:latin typeface="Microsoft YaHei"/>
              </a:rPr>
              <a:t>核心闭环：测量误差 → 控制器 → 压电镜修正 → 再测量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6144768"/>
            <a:ext cx="5760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Based on MRC Compact Laser Beam Stabilization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研究背景与应用需求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Background &amp; Significance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92248"/>
                </a:solidFill>
                <a:latin typeface="Microsoft YaHei"/>
              </a:rPr>
              <a:t>光束漂移并非单一位置问题，而是位置与角度的耦合失稳。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57400"/>
            <a:ext cx="3246120" cy="3273552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57400"/>
            <a:ext cx="64008" cy="3273552"/>
          </a:xfrm>
          <a:prstGeom prst="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203704"/>
            <a:ext cx="29352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典型扰动来源 / Disturbances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871216"/>
            <a:ext cx="68580" cy="6858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7" y="2761488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机械振动与平台微扰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392424"/>
            <a:ext cx="68580" cy="6858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7" y="3282696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热漂移与支架形变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913632"/>
            <a:ext cx="68580" cy="6858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3803904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长光路中的角度放大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34840"/>
            <a:ext cx="68580" cy="6858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7" y="4325112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显微镜目标平面偏移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2232" y="2057400"/>
            <a:ext cx="3246120" cy="3273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42232" y="2057400"/>
            <a:ext cx="64008" cy="3273552"/>
          </a:xfrm>
          <a:prstGeom prst="rect">
            <a:avLst/>
          </a:prstGeom>
          <a:solidFill>
            <a:srgbClr val="CA4652"/>
          </a:solidFill>
          <a:ln w="10160">
            <a:solidFill>
              <a:srgbClr val="CA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203704"/>
            <a:ext cx="29352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实验后果 / Consequences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2871216"/>
            <a:ext cx="68580" cy="68580"/>
          </a:xfrm>
          <a:prstGeom prst="roundRect">
            <a:avLst/>
          </a:prstGeom>
          <a:solidFill>
            <a:srgbClr val="CA4652"/>
          </a:solidFill>
          <a:ln w="10160">
            <a:solidFill>
              <a:srgbClr val="CA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761488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光斑位置不稳定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3392424"/>
            <a:ext cx="68580" cy="68580"/>
          </a:xfrm>
          <a:prstGeom prst="roundRect">
            <a:avLst/>
          </a:prstGeom>
          <a:solidFill>
            <a:srgbClr val="CA4652"/>
          </a:solidFill>
          <a:ln w="10160">
            <a:solidFill>
              <a:srgbClr val="CA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282696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成像与测量重复性下降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6552" y="3913632"/>
            <a:ext cx="68580" cy="68580"/>
          </a:xfrm>
          <a:prstGeom prst="roundRect">
            <a:avLst/>
          </a:prstGeom>
          <a:solidFill>
            <a:srgbClr val="CA4652"/>
          </a:solidFill>
          <a:ln w="10160">
            <a:solidFill>
              <a:srgbClr val="CA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803904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长时间实验出现系统性漂移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16552" y="4434840"/>
            <a:ext cx="68580" cy="68580"/>
          </a:xfrm>
          <a:prstGeom prst="roundRect">
            <a:avLst/>
          </a:prstGeom>
          <a:solidFill>
            <a:srgbClr val="CA4652"/>
          </a:solidFill>
          <a:ln w="10160">
            <a:solidFill>
              <a:srgbClr val="CA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325112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手动校准无法持续补偿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90104" y="2057400"/>
            <a:ext cx="3246120" cy="3273552"/>
          </a:xfrm>
          <a:prstGeom prst="roundRect">
            <a:avLst/>
          </a:prstGeom>
          <a:solidFill>
            <a:srgbClr val="E8F9F7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90104" y="2057400"/>
            <a:ext cx="64008" cy="3273552"/>
          </a:xfrm>
          <a:prstGeom prst="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91272" y="2203704"/>
            <a:ext cx="29352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系统需求 / Requirements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64424" y="2871216"/>
            <a:ext cx="68580" cy="68580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2" y="2761488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实时、连续、低延迟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64424" y="3392424"/>
            <a:ext cx="68580" cy="68580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2" y="3282696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同时控制位置与方向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64424" y="3913632"/>
            <a:ext cx="68580" cy="68580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9872" y="3803904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可集成既有光路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64424" y="4434840"/>
            <a:ext cx="68580" cy="68580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9872" y="4325112"/>
            <a:ext cx="240487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228"/>
                </a:solidFill>
                <a:latin typeface="Microsoft YaHei"/>
              </a:rPr>
              <a:t>具备异常检测与恢复机制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63040" y="5715000"/>
            <a:ext cx="9281160" cy="457200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0200" y="5833872"/>
            <a:ext cx="9006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Microsoft YaHei"/>
              </a:rPr>
              <a:t>关键转变：从“事后校正”转向“主动闭环稳定”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科学问题与研究假设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Scientific Questions &amp; Hypotheses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92248"/>
                </a:solidFill>
                <a:latin typeface="Microsoft YaHei"/>
              </a:rPr>
              <a:t>如何利用两个观测平面，将光束的横向位置与传播方向分离并同时稳定？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521208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" y="2560320"/>
            <a:ext cx="566928" cy="566928"/>
          </a:xfrm>
          <a:prstGeom prst="round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734056"/>
            <a:ext cx="56692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523744"/>
            <a:ext cx="3840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92248"/>
                </a:solidFill>
                <a:latin typeface="Microsoft YaHei"/>
              </a:rPr>
              <a:t>位置是否稳定？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898648"/>
            <a:ext cx="3977639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4C5665"/>
                </a:solidFill>
                <a:latin typeface="Microsoft YaHei"/>
              </a:rPr>
              <a:t>Detector 1 能否锁定光束在中间压电镜处的位置？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331720"/>
            <a:ext cx="521208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55664" y="2560320"/>
            <a:ext cx="566928" cy="566928"/>
          </a:xfrm>
          <a:prstGeom prst="roundRect">
            <a:avLst/>
          </a:prstGeom>
          <a:solidFill>
            <a:srgbClr val="00A6BE"/>
          </a:solidFill>
          <a:ln w="10160">
            <a:solidFill>
              <a:srgbClr val="00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734056"/>
            <a:ext cx="56692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523744"/>
            <a:ext cx="3840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92248"/>
                </a:solidFill>
                <a:latin typeface="Microsoft YaHei"/>
              </a:rPr>
              <a:t>方向是否稳定？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898648"/>
            <a:ext cx="3977639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4C5665"/>
                </a:solidFill>
                <a:latin typeface="Microsoft YaHei"/>
              </a:rPr>
              <a:t>Detector 2 是否能够感知远端目标平面的角度漂移？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521208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1" y="4297680"/>
            <a:ext cx="566928" cy="566928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471416"/>
            <a:ext cx="56692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261104"/>
            <a:ext cx="3840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92248"/>
                </a:solidFill>
                <a:latin typeface="Microsoft YaHei"/>
              </a:rPr>
              <a:t>精度由什么决定？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636008"/>
            <a:ext cx="3977639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4C5665"/>
                </a:solidFill>
                <a:latin typeface="Microsoft YaHei"/>
              </a:rPr>
              <a:t>探测器分辨率、镜—探测器距离与机械稳定性如何共同作用？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069080"/>
            <a:ext cx="521208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4297680"/>
            <a:ext cx="566928" cy="566928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471416"/>
            <a:ext cx="56692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261104"/>
            <a:ext cx="3840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92248"/>
                </a:solidFill>
                <a:latin typeface="Microsoft YaHei"/>
              </a:rPr>
              <a:t>如何可靠启动？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636008"/>
            <a:ext cx="3977639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4C5665"/>
                </a:solidFill>
                <a:latin typeface="Microsoft YaHei"/>
              </a:rPr>
              <a:t>怎样避免方向编码错误、振荡与控制级之间的串扰？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5669280"/>
            <a:ext cx="8275320" cy="457200"/>
          </a:xfrm>
          <a:prstGeom prst="roundRect">
            <a:avLst/>
          </a:prstGeom>
          <a:solidFill>
            <a:srgbClr val="E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6272" y="5797296"/>
            <a:ext cx="7863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92248"/>
                </a:solidFill>
                <a:latin typeface="Microsoft YaHei"/>
              </a:rPr>
              <a:t>核心假设 / Hypothesis: </a:t>
            </a:r>
            <a:r>
              <a:rPr sz="1100" b="0" i="0">
                <a:solidFill>
                  <a:srgbClr val="4C5665"/>
                </a:solidFill>
                <a:latin typeface="Microsoft YaHei"/>
              </a:rPr>
              <a:t>双级观测与双级执行可以将 beam position 与 beam angle 转化为两个可控误差通道。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系统总体架构与研究设计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Overall System Architecture &amp; Research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6400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92248"/>
                </a:solidFill>
                <a:latin typeface="Microsoft YaHei"/>
              </a:rPr>
              <a:t>四轴系统 = 两个独立控制级 × 每级二维执行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11247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1033271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92248"/>
                </a:solidFill>
                <a:latin typeface="Aptos"/>
              </a:rPr>
              <a:t>Laser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33472"/>
            <a:ext cx="1033271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激光器</a:t>
            </a:r>
          </a:p>
        </p:txBody>
      </p:sp>
      <p:sp>
        <p:nvSpPr>
          <p:cNvPr id="15" name="Chevron 14"/>
          <p:cNvSpPr/>
          <p:nvPr/>
        </p:nvSpPr>
        <p:spPr>
          <a:xfrm>
            <a:off x="1810512" y="2404872"/>
            <a:ext cx="246888" cy="310896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48840" y="2240280"/>
            <a:ext cx="11247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395728"/>
            <a:ext cx="1033271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92248"/>
                </a:solidFill>
                <a:latin typeface="Aptos"/>
              </a:rPr>
              <a:t>Mirror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633472"/>
            <a:ext cx="1033271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转镜 1</a:t>
            </a:r>
          </a:p>
        </p:txBody>
      </p:sp>
      <p:sp>
        <p:nvSpPr>
          <p:cNvPr id="19" name="Chevron 18"/>
          <p:cNvSpPr/>
          <p:nvPr/>
        </p:nvSpPr>
        <p:spPr>
          <a:xfrm>
            <a:off x="3319272" y="2404872"/>
            <a:ext cx="246888" cy="310896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2240280"/>
            <a:ext cx="11247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395728"/>
            <a:ext cx="1033271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92248"/>
                </a:solidFill>
                <a:latin typeface="Aptos"/>
              </a:rPr>
              <a:t>Mirror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633472"/>
            <a:ext cx="1033271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转镜 2</a:t>
            </a:r>
          </a:p>
        </p:txBody>
      </p:sp>
      <p:sp>
        <p:nvSpPr>
          <p:cNvPr id="23" name="Chevron 22"/>
          <p:cNvSpPr/>
          <p:nvPr/>
        </p:nvSpPr>
        <p:spPr>
          <a:xfrm>
            <a:off x="4828032" y="2404872"/>
            <a:ext cx="246888" cy="310896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66360" y="2240280"/>
            <a:ext cx="11247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3A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2395728"/>
            <a:ext cx="1033271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92248"/>
                </a:solidFill>
                <a:latin typeface="Aptos"/>
              </a:rPr>
              <a:t>Detector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33472"/>
            <a:ext cx="1033271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位置探测</a:t>
            </a:r>
          </a:p>
        </p:txBody>
      </p:sp>
      <p:sp>
        <p:nvSpPr>
          <p:cNvPr id="27" name="Chevron 26"/>
          <p:cNvSpPr/>
          <p:nvPr/>
        </p:nvSpPr>
        <p:spPr>
          <a:xfrm>
            <a:off x="6336792" y="2404872"/>
            <a:ext cx="246888" cy="310896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75120" y="2240280"/>
            <a:ext cx="11247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395728"/>
            <a:ext cx="1033271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92248"/>
                </a:solidFill>
                <a:latin typeface="Aptos"/>
              </a:rP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633472"/>
            <a:ext cx="1033271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目标平面</a:t>
            </a:r>
          </a:p>
        </p:txBody>
      </p:sp>
      <p:sp>
        <p:nvSpPr>
          <p:cNvPr id="31" name="Chevron 30"/>
          <p:cNvSpPr/>
          <p:nvPr/>
        </p:nvSpPr>
        <p:spPr>
          <a:xfrm>
            <a:off x="7845552" y="2404872"/>
            <a:ext cx="246888" cy="310896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83879" y="2240280"/>
            <a:ext cx="11247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395728"/>
            <a:ext cx="1033271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92248"/>
                </a:solidFill>
                <a:latin typeface="Aptos"/>
              </a:rPr>
              <a:t>Detector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633472"/>
            <a:ext cx="1033271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角度探测</a:t>
            </a:r>
          </a:p>
        </p:txBody>
      </p:sp>
      <p:sp>
        <p:nvSpPr>
          <p:cNvPr id="35" name="Chevron 34"/>
          <p:cNvSpPr/>
          <p:nvPr/>
        </p:nvSpPr>
        <p:spPr>
          <a:xfrm>
            <a:off x="9354311" y="2404872"/>
            <a:ext cx="246888" cy="310896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92640" y="2240280"/>
            <a:ext cx="112471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2395728"/>
            <a:ext cx="1033271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092248"/>
                </a:solidFill>
                <a:latin typeface="Aptos"/>
              </a:rPr>
              <a:t>Controller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633472"/>
            <a:ext cx="1033271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0" i="0">
                <a:solidFill>
                  <a:srgbClr val="4C5665"/>
                </a:solidFill>
                <a:latin typeface="Microsoft YaHei"/>
              </a:rPr>
              <a:t>控制器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241280" y="2907792"/>
            <a:ext cx="0" cy="978408"/>
          </a:xfrm>
          <a:prstGeom prst="line">
            <a:avLst/>
          </a:prstGeom>
          <a:ln w="1524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697480" y="3886200"/>
            <a:ext cx="7543800" cy="0"/>
          </a:xfrm>
          <a:prstGeom prst="line">
            <a:avLst/>
          </a:prstGeom>
          <a:ln w="1524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97480" y="2907792"/>
            <a:ext cx="0" cy="978408"/>
          </a:xfrm>
          <a:prstGeom prst="line">
            <a:avLst/>
          </a:prstGeom>
          <a:ln w="1524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0" y="3986784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92248"/>
                </a:solidFill>
                <a:latin typeface="Aptos"/>
              </a:rPr>
              <a:t>position / angle feedback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617720"/>
            <a:ext cx="3401568" cy="11430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617720"/>
            <a:ext cx="64008" cy="1143000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4764024"/>
            <a:ext cx="309067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1. 观测 / Sensing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5148072"/>
            <a:ext cx="307238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4C5665"/>
                </a:solidFill>
                <a:latin typeface="Microsoft YaHei"/>
              </a:rPr>
              <a:t>从两个平面获取 x/y position error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4617720"/>
            <a:ext cx="3401568" cy="1143000"/>
          </a:xfrm>
          <a:prstGeom prst="roundRect">
            <a:avLst/>
          </a:prstGeom>
          <a:solidFill>
            <a:srgbClr val="E8F9F7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617720"/>
            <a:ext cx="64008" cy="1143000"/>
          </a:xfrm>
          <a:prstGeom prst="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0288" y="4764024"/>
            <a:ext cx="309067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2. 控制 /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5148072"/>
            <a:ext cx="307238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4C5665"/>
                </a:solidFill>
                <a:latin typeface="Microsoft YaHei"/>
              </a:rPr>
              <a:t>控制器根据误差计算镜面修正量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92440" y="4617720"/>
            <a:ext cx="3401568" cy="1143000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92440" y="4617720"/>
            <a:ext cx="64008" cy="1143000"/>
          </a:xfrm>
          <a:prstGeom prst="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93608" y="4764024"/>
            <a:ext cx="309067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3. 执行 / Actuation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93608" y="5148072"/>
            <a:ext cx="3072384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4C5665"/>
                </a:solidFill>
                <a:latin typeface="Microsoft YaHei"/>
              </a:rPr>
              <a:t>压电转镜补偿角度与光斑偏移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标准四轴光路布局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Standard 4-Axis Optical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92248"/>
                </a:solidFill>
                <a:latin typeface="Microsoft YaHei"/>
              </a:rPr>
              <a:t>两个 detector 位于不同的观测位置：一个锁位置，一个锁方向。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03120"/>
            <a:ext cx="10835640" cy="242316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383280"/>
            <a:ext cx="9921240" cy="0"/>
          </a:xfrm>
          <a:prstGeom prst="line">
            <a:avLst/>
          </a:prstGeom>
          <a:ln w="5080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43200" y="2697480"/>
            <a:ext cx="1188720" cy="685800"/>
          </a:xfrm>
          <a:prstGeom prst="line">
            <a:avLst/>
          </a:prstGeom>
          <a:ln w="5080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2697480"/>
            <a:ext cx="1600200" cy="685800"/>
          </a:xfrm>
          <a:prstGeom prst="line">
            <a:avLst/>
          </a:prstGeom>
          <a:ln w="5080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32120" y="2788920"/>
            <a:ext cx="1828800" cy="594360"/>
          </a:xfrm>
          <a:prstGeom prst="line">
            <a:avLst/>
          </a:prstGeom>
          <a:ln w="5080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788920"/>
            <a:ext cx="3337560" cy="594360"/>
          </a:xfrm>
          <a:prstGeom prst="line">
            <a:avLst/>
          </a:prstGeom>
          <a:ln w="5080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20" y="3127248"/>
            <a:ext cx="914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18688"/>
            <a:ext cx="9144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92248"/>
                </a:solidFill>
                <a:latin typeface="Aptos"/>
              </a:rPr>
              <a:t>Laser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1188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0" i="0">
                <a:solidFill>
                  <a:srgbClr val="4C5665"/>
                </a:solidFill>
                <a:latin typeface="Microsoft YaHei"/>
              </a:rPr>
              <a:t>光源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50592" y="3163824"/>
            <a:ext cx="914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3255264"/>
            <a:ext cx="9144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92248"/>
                </a:solidFill>
                <a:latin typeface="Aptos"/>
              </a:rPr>
              <a:t>Mirror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3432" y="3739896"/>
            <a:ext cx="1188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0" i="0">
                <a:solidFill>
                  <a:srgbClr val="4C5665"/>
                </a:solidFill>
                <a:latin typeface="Microsoft YaHei"/>
              </a:rPr>
              <a:t>压电镜 1
靠近光源端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2450592"/>
            <a:ext cx="914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542032"/>
            <a:ext cx="9144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92248"/>
                </a:solidFill>
                <a:latin typeface="Aptos"/>
              </a:rPr>
              <a:t>Mirror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026664"/>
            <a:ext cx="1188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0" i="0">
                <a:solidFill>
                  <a:srgbClr val="4C5665"/>
                </a:solidFill>
                <a:latin typeface="Microsoft YaHei"/>
              </a:rPr>
              <a:t>压电镜 2
中间位置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063240"/>
            <a:ext cx="914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3A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154680"/>
            <a:ext cx="9144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92248"/>
                </a:solidFill>
                <a:latin typeface="Aptos"/>
              </a:rPr>
              <a:t>Detector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3639312"/>
            <a:ext cx="1188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0" i="0">
                <a:solidFill>
                  <a:srgbClr val="4C5665"/>
                </a:solidFill>
                <a:latin typeface="Microsoft YaHei"/>
              </a:rPr>
              <a:t>位置锁定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2523744"/>
            <a:ext cx="914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2615184"/>
            <a:ext cx="9144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92248"/>
                </a:solidFill>
                <a:latin typeface="Aptos"/>
              </a:rPr>
              <a:t>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99815"/>
            <a:ext cx="1188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0" i="0">
                <a:solidFill>
                  <a:srgbClr val="4C5665"/>
                </a:solidFill>
                <a:latin typeface="Microsoft YaHei"/>
              </a:rPr>
              <a:t>目标平面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3063240"/>
            <a:ext cx="9144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3154680"/>
            <a:ext cx="9144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92248"/>
                </a:solidFill>
                <a:latin typeface="Aptos"/>
              </a:rPr>
              <a:t>Detector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639312"/>
            <a:ext cx="1188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0" i="0">
                <a:solidFill>
                  <a:srgbClr val="4C5665"/>
                </a:solidFill>
                <a:latin typeface="Microsoft YaHei"/>
              </a:rPr>
              <a:t>角度锁定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14800" y="4160520"/>
            <a:ext cx="2788920" cy="0"/>
          </a:xfrm>
          <a:prstGeom prst="line">
            <a:avLst/>
          </a:prstGeom>
          <a:ln w="12700">
            <a:solidFill>
              <a:srgbClr val="89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09160" y="4251960"/>
            <a:ext cx="23317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C5665"/>
                </a:solidFill>
                <a:latin typeface="Aptos"/>
              </a:rPr>
              <a:t>recommended separation ≥ 0.5 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074920"/>
            <a:ext cx="2103120" cy="841248"/>
          </a:xfrm>
          <a:prstGeom prst="roundRect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184648"/>
            <a:ext cx="1956815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00A6BE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5596128"/>
            <a:ext cx="1956815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C5665"/>
                </a:solidFill>
                <a:latin typeface="Microsoft YaHei"/>
              </a:rPr>
              <a:t>piezo mirrors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074920"/>
            <a:ext cx="2103120" cy="841248"/>
          </a:xfrm>
          <a:prstGeom prst="roundRect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2152" y="5184648"/>
            <a:ext cx="1956815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43AE77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2152" y="5596128"/>
            <a:ext cx="1956815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C5665"/>
                </a:solidFill>
                <a:latin typeface="Microsoft YaHei"/>
              </a:rPr>
              <a:t>position detectors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0" y="5074920"/>
            <a:ext cx="2103120" cy="841248"/>
          </a:xfrm>
          <a:prstGeom prst="roundRect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25312" y="5184648"/>
            <a:ext cx="1956815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EB8044"/>
                </a:solidFill>
                <a:latin typeface="Apto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25312" y="5596128"/>
            <a:ext cx="1956815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C5665"/>
                </a:solidFill>
                <a:latin typeface="Microsoft YaHei"/>
              </a:rPr>
              <a:t>controlled axes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5074920"/>
            <a:ext cx="2103120" cy="841248"/>
          </a:xfrm>
          <a:prstGeom prst="roundRect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2" y="5184648"/>
            <a:ext cx="1956815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78B8"/>
                </a:solidFill>
                <a:latin typeface="Aptos"/>
              </a:rPr>
              <a:t>0.5 m+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5596128"/>
            <a:ext cx="1956815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4C5665"/>
                </a:solidFill>
                <a:latin typeface="Microsoft YaHei"/>
              </a:rPr>
              <a:t>recommended distance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双级闭环控制原理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Two-Stage Closed-Loop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92248"/>
                </a:solidFill>
                <a:latin typeface="Microsoft YaHei"/>
              </a:rPr>
              <a:t>误差不是直接“调相机画面”，而是反馈到压电转镜的二维控制量。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84831"/>
            <a:ext cx="5212080" cy="2331720"/>
          </a:xfrm>
          <a:prstGeom prst="roundRect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13432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878B8"/>
                </a:solidFill>
                <a:latin typeface="Microsoft YaHei"/>
              </a:rPr>
              <a:t>Stage 1 | 位置环 Position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92248"/>
                </a:solidFill>
                <a:latin typeface="Aptos"/>
              </a:rPr>
              <a:t>e₁ = [Δx₁, Δy₁]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291840"/>
            <a:ext cx="1234440" cy="457200"/>
          </a:xfrm>
          <a:prstGeom prst="round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401568"/>
            <a:ext cx="116128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Detector 1</a:t>
            </a:r>
          </a:p>
        </p:txBody>
      </p:sp>
      <p:sp>
        <p:nvSpPr>
          <p:cNvPr id="17" name="Chevron 16"/>
          <p:cNvSpPr/>
          <p:nvPr/>
        </p:nvSpPr>
        <p:spPr>
          <a:xfrm>
            <a:off x="2313432" y="3364992"/>
            <a:ext cx="274320" cy="292608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97480" y="3291840"/>
            <a:ext cx="1325880" cy="457200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4056" y="3401568"/>
            <a:ext cx="125272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Controller</a:t>
            </a:r>
          </a:p>
        </p:txBody>
      </p:sp>
      <p:sp>
        <p:nvSpPr>
          <p:cNvPr id="20" name="Chevron 19"/>
          <p:cNvSpPr/>
          <p:nvPr/>
        </p:nvSpPr>
        <p:spPr>
          <a:xfrm>
            <a:off x="4142232" y="3364992"/>
            <a:ext cx="274320" cy="292608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60" y="3291840"/>
            <a:ext cx="1298448" cy="45720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3401568"/>
            <a:ext cx="122529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Mirror 2 X/Y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913632"/>
            <a:ext cx="43434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C5665"/>
                </a:solidFill>
                <a:latin typeface="Microsoft YaHei"/>
              </a:rPr>
              <a:t>锁定光束在中间转镜处的位置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084831"/>
            <a:ext cx="5212080" cy="2331720"/>
          </a:xfrm>
          <a:prstGeom prst="roundRect">
            <a:avLst/>
          </a:prstGeom>
          <a:solidFill>
            <a:srgbClr val="E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313432"/>
            <a:ext cx="4480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5A699"/>
                </a:solidFill>
                <a:latin typeface="Microsoft YaHei"/>
              </a:rPr>
              <a:t>Stage 2 | 方向环 Angular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761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92248"/>
                </a:solidFill>
                <a:latin typeface="Aptos"/>
              </a:rPr>
              <a:t>e₂ = [Δx₂, Δy₂]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291840"/>
            <a:ext cx="1234440" cy="457200"/>
          </a:xfrm>
          <a:prstGeom prst="roundRect">
            <a:avLst/>
          </a:prstGeom>
          <a:solidFill>
            <a:srgbClr val="43AE77"/>
          </a:solidFill>
          <a:ln w="10160">
            <a:solidFill>
              <a:srgbClr val="43A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3401568"/>
            <a:ext cx="116128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Detector 2</a:t>
            </a:r>
          </a:p>
        </p:txBody>
      </p:sp>
      <p:sp>
        <p:nvSpPr>
          <p:cNvPr id="29" name="Chevron 28"/>
          <p:cNvSpPr/>
          <p:nvPr/>
        </p:nvSpPr>
        <p:spPr>
          <a:xfrm>
            <a:off x="7891272" y="3364992"/>
            <a:ext cx="274320" cy="292608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20" y="3291840"/>
            <a:ext cx="1325880" cy="457200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3401568"/>
            <a:ext cx="125272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Controller</a:t>
            </a:r>
          </a:p>
        </p:txBody>
      </p:sp>
      <p:sp>
        <p:nvSpPr>
          <p:cNvPr id="32" name="Chevron 31"/>
          <p:cNvSpPr/>
          <p:nvPr/>
        </p:nvSpPr>
        <p:spPr>
          <a:xfrm>
            <a:off x="9720072" y="3364992"/>
            <a:ext cx="274320" cy="292608"/>
          </a:xfrm>
          <a:prstGeom prst="chevron">
            <a:avLst/>
          </a:prstGeom>
          <a:solidFill>
            <a:srgbClr val="1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0" y="3291840"/>
            <a:ext cx="1298448" cy="45720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4976" y="3401568"/>
            <a:ext cx="1225295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Mirror 1 X/Y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913632"/>
            <a:ext cx="43434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C5665"/>
                </a:solidFill>
                <a:latin typeface="Microsoft YaHei"/>
              </a:rPr>
              <a:t>抑制远端目标平面的角度变化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4892040"/>
            <a:ext cx="8549640" cy="713232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9968" y="5129784"/>
            <a:ext cx="8138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ptos"/>
              </a:rPr>
              <a:t>u = Kp · e + Ki · ∫e dt    |    初期先关闭耦合项，再进行矩阵解耦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探测器信号与位置换算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Detector Readout &amp; Position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92248"/>
                </a:solidFill>
                <a:latin typeface="Microsoft YaHei"/>
              </a:rPr>
              <a:t>探测器输出原始电压；通过光束直径与强度归一化得到实际位置。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029968"/>
            <a:ext cx="5257800" cy="3383280"/>
          </a:xfrm>
          <a:prstGeom prst="roundRect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13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878B8"/>
                </a:solidFill>
                <a:latin typeface="Aptos"/>
              </a:rPr>
              <a:t>4-QD detector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154680"/>
            <a:ext cx="12801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057400" y="3154680"/>
            <a:ext cx="0" cy="1280160"/>
          </a:xfrm>
          <a:prstGeom prst="line">
            <a:avLst/>
          </a:prstGeom>
          <a:ln w="12700">
            <a:solidFill>
              <a:srgbClr val="18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7320" y="3794760"/>
            <a:ext cx="1280160" cy="0"/>
          </a:xfrm>
          <a:prstGeom prst="line">
            <a:avLst/>
          </a:prstGeom>
          <a:ln w="12700">
            <a:solidFill>
              <a:srgbClr val="18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56231" y="3593592"/>
            <a:ext cx="402336" cy="402336"/>
          </a:xfrm>
          <a:prstGeom prst="roundRect">
            <a:avLst/>
          </a:prstGeom>
          <a:solidFill>
            <a:srgbClr val="00A6BE"/>
          </a:solidFill>
          <a:ln w="10160">
            <a:solidFill>
              <a:srgbClr val="00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599432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C5665"/>
                </a:solidFill>
                <a:latin typeface="Aptos"/>
              </a:rPr>
              <a:t>x /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953512"/>
            <a:ext cx="2423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92248"/>
                </a:solidFill>
                <a:latin typeface="Microsoft YaHei"/>
              </a:rPr>
              <a:t>近中心近似 / Near-center approximation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01568"/>
            <a:ext cx="242316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E2228"/>
                </a:solidFill>
                <a:latin typeface="Aptos"/>
              </a:rPr>
              <a:t>x[μm] = D[μm] · x[V] / πI[V]
y[μm] = D[μm] · y[V] / πI[V]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029968"/>
            <a:ext cx="5257800" cy="3383280"/>
          </a:xfrm>
          <a:prstGeom prst="roundRect">
            <a:avLst/>
          </a:prstGeom>
          <a:solidFill>
            <a:srgbClr val="E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313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5A699"/>
                </a:solidFill>
                <a:latin typeface="Aptos"/>
              </a:rPr>
              <a:t>PSD detector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063240"/>
            <a:ext cx="14173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584448"/>
            <a:ext cx="1417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5A699"/>
                </a:solidFill>
                <a:latin typeface="Aptos"/>
              </a:rPr>
              <a:t>PSD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953512"/>
            <a:ext cx="2423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92248"/>
                </a:solidFill>
                <a:latin typeface="Microsoft YaHei"/>
              </a:rPr>
              <a:t>近似线性 / Approximately linear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401568"/>
            <a:ext cx="242316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E2228"/>
                </a:solidFill>
                <a:latin typeface="Aptos"/>
              </a:rPr>
              <a:t>x[μm] = x[mV] / (1.2 ± 0.03)
y[μm] = y[mV] / (1.2 ± 0.03)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5760720"/>
            <a:ext cx="9601200" cy="438912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5879592"/>
            <a:ext cx="91440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工程重点：控制前先完成光斑居中、强度调节与方向编码确认。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位置精度与角度精度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Position &amp; Angular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92248"/>
                </a:solidFill>
                <a:latin typeface="Microsoft YaHei"/>
              </a:rPr>
              <a:t>系统性能由 detector resolution、光路几何和机械稳定性共同决定。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85800" y="2029968"/>
          <a:ext cx="55321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37960" y="2029968"/>
            <a:ext cx="4892040" cy="987552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029968"/>
            <a:ext cx="64008" cy="987552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176272"/>
            <a:ext cx="458114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文献结论 / Literature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560320"/>
            <a:ext cx="456285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C5665"/>
                </a:solidFill>
                <a:latin typeface="Microsoft YaHei"/>
              </a:rPr>
              <a:t>小光束条件下分辨率可优于 100 nm；4 mm 光束约 0.5 μm；6 mm 光束仍可达到亚微米量级。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246120"/>
            <a:ext cx="4892040" cy="987552"/>
          </a:xfrm>
          <a:prstGeom prst="roundRect">
            <a:avLst/>
          </a:prstGeom>
          <a:solidFill>
            <a:srgbClr val="E8F9F7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3246120"/>
            <a:ext cx="64008" cy="987552"/>
          </a:xfrm>
          <a:prstGeom prst="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3392424"/>
            <a:ext cx="458114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角度换算 / Angular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3776472"/>
            <a:ext cx="456285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C5665"/>
                </a:solidFill>
                <a:latin typeface="Microsoft YaHei"/>
              </a:rPr>
              <a:t>α ≈ Δx / L；当 Δx = 0.5 μm、L = 0.5 m 时，α ≈ 0.994 μrad。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462272"/>
            <a:ext cx="4892040" cy="987552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4462272"/>
            <a:ext cx="64008" cy="987552"/>
          </a:xfrm>
          <a:prstGeom prst="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4608576"/>
            <a:ext cx="458114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92248"/>
                </a:solidFill>
                <a:latin typeface="Microsoft YaHei"/>
              </a:rPr>
              <a:t>工程限制 / Practical limitation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4992624"/>
            <a:ext cx="456285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C5665"/>
                </a:solidFill>
                <a:latin typeface="Microsoft YaHei"/>
              </a:rPr>
              <a:t>稳定支架、低热膨胀材料和合适的 detector—mirror 距离是长期精度的必要条件。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285232"/>
            <a:ext cx="5074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Microsoft YaHei"/>
              </a:rPr>
              <a:t>注：柱状图为依据文献表述制作的代表性量级示意，不替代原始标定曲线。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系统安装与启动调试流程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Installation &amp; Commissioning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92248"/>
                </a:solidFill>
                <a:latin typeface="Microsoft YaHei"/>
              </a:rPr>
              <a:t>调试原则：先机械稳定，再光束预对准，最后逐级闭环。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03120"/>
            <a:ext cx="2240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" y="2276856"/>
            <a:ext cx="521207" cy="521207"/>
          </a:xfrm>
          <a:prstGeom prst="round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450591"/>
            <a:ext cx="521207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04288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2248"/>
                </a:solidFill>
                <a:latin typeface="Microsoft YaHei"/>
              </a:rPr>
              <a:t>稳定安装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587752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Stable mounts</a:t>
            </a:r>
          </a:p>
        </p:txBody>
      </p:sp>
      <p:sp>
        <p:nvSpPr>
          <p:cNvPr id="17" name="Chevron 16"/>
          <p:cNvSpPr/>
          <p:nvPr/>
        </p:nvSpPr>
        <p:spPr>
          <a:xfrm>
            <a:off x="2926080" y="2423160"/>
            <a:ext cx="256032" cy="274320"/>
          </a:xfrm>
          <a:prstGeom prst="chevron">
            <a:avLst/>
          </a:prstGeom>
          <a:solidFill>
            <a:srgbClr val="89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2103120"/>
            <a:ext cx="2240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93592" y="2276856"/>
            <a:ext cx="521207" cy="521207"/>
          </a:xfrm>
          <a:prstGeom prst="roundRect">
            <a:avLst/>
          </a:prstGeom>
          <a:solidFill>
            <a:srgbClr val="00A6BE"/>
          </a:solidFill>
          <a:ln w="10160">
            <a:solidFill>
              <a:srgbClr val="00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2450591"/>
            <a:ext cx="521207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304288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2248"/>
                </a:solidFill>
                <a:latin typeface="Microsoft YaHei"/>
              </a:rPr>
              <a:t>连接线缆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587752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Cable connection</a:t>
            </a:r>
          </a:p>
        </p:txBody>
      </p:sp>
      <p:sp>
        <p:nvSpPr>
          <p:cNvPr id="23" name="Chevron 22"/>
          <p:cNvSpPr/>
          <p:nvPr/>
        </p:nvSpPr>
        <p:spPr>
          <a:xfrm>
            <a:off x="5715000" y="2423160"/>
            <a:ext cx="256032" cy="274320"/>
          </a:xfrm>
          <a:prstGeom prst="chevron">
            <a:avLst/>
          </a:prstGeom>
          <a:solidFill>
            <a:srgbClr val="89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2103120"/>
            <a:ext cx="2240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82512" y="2276856"/>
            <a:ext cx="521207" cy="521207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450591"/>
            <a:ext cx="521207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304288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2248"/>
                </a:solidFill>
                <a:latin typeface="Microsoft YaHei"/>
              </a:rPr>
              <a:t>调节强度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587752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Intensity adjustment</a:t>
            </a:r>
          </a:p>
        </p:txBody>
      </p:sp>
      <p:sp>
        <p:nvSpPr>
          <p:cNvPr id="29" name="Chevron 28"/>
          <p:cNvSpPr/>
          <p:nvPr/>
        </p:nvSpPr>
        <p:spPr>
          <a:xfrm>
            <a:off x="8503920" y="2423160"/>
            <a:ext cx="256032" cy="274320"/>
          </a:xfrm>
          <a:prstGeom prst="chevron">
            <a:avLst/>
          </a:prstGeom>
          <a:solidFill>
            <a:srgbClr val="89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06839" y="2103120"/>
            <a:ext cx="2240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71431" y="2276856"/>
            <a:ext cx="521207" cy="521207"/>
          </a:xfrm>
          <a:prstGeom prst="roundRect">
            <a:avLst/>
          </a:prstGeom>
          <a:solidFill>
            <a:srgbClr val="43AE77"/>
          </a:solidFill>
          <a:ln w="10160">
            <a:solidFill>
              <a:srgbClr val="43A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1" y="2450591"/>
            <a:ext cx="521207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2304288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2248"/>
                </a:solidFill>
                <a:latin typeface="Microsoft YaHei"/>
              </a:rPr>
              <a:t>开环预对准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2587752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Open-loop alignment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547872"/>
            <a:ext cx="2240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1" y="3721608"/>
            <a:ext cx="521207" cy="521207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" y="3895344"/>
            <a:ext cx="521207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749039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2248"/>
                </a:solidFill>
                <a:latin typeface="Microsoft YaHei"/>
              </a:rPr>
              <a:t>确认方向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032504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Direction coding</a:t>
            </a:r>
          </a:p>
        </p:txBody>
      </p:sp>
      <p:sp>
        <p:nvSpPr>
          <p:cNvPr id="40" name="Chevron 39"/>
          <p:cNvSpPr/>
          <p:nvPr/>
        </p:nvSpPr>
        <p:spPr>
          <a:xfrm>
            <a:off x="2926080" y="3867911"/>
            <a:ext cx="256032" cy="274320"/>
          </a:xfrm>
          <a:prstGeom prst="chevron">
            <a:avLst/>
          </a:prstGeom>
          <a:solidFill>
            <a:srgbClr val="89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29000" y="3547872"/>
            <a:ext cx="2240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93592" y="3721608"/>
            <a:ext cx="521207" cy="521207"/>
          </a:xfrm>
          <a:prstGeom prst="roundRect">
            <a:avLst/>
          </a:prstGeom>
          <a:solidFill>
            <a:srgbClr val="CA4652"/>
          </a:solidFill>
          <a:ln w="10160">
            <a:solidFill>
              <a:srgbClr val="CA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3592" y="3895344"/>
            <a:ext cx="521207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3749039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2248"/>
                </a:solidFill>
                <a:latin typeface="Microsoft YaHei"/>
              </a:rPr>
              <a:t>逐级调 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4032504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Stage-wise tuning</a:t>
            </a:r>
          </a:p>
        </p:txBody>
      </p:sp>
      <p:sp>
        <p:nvSpPr>
          <p:cNvPr id="46" name="Chevron 45"/>
          <p:cNvSpPr/>
          <p:nvPr/>
        </p:nvSpPr>
        <p:spPr>
          <a:xfrm>
            <a:off x="5715000" y="3867911"/>
            <a:ext cx="256032" cy="274320"/>
          </a:xfrm>
          <a:prstGeom prst="chevron">
            <a:avLst/>
          </a:prstGeom>
          <a:solidFill>
            <a:srgbClr val="89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17920" y="3547872"/>
            <a:ext cx="22402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82512" y="3721608"/>
            <a:ext cx="521207" cy="521207"/>
          </a:xfrm>
          <a:prstGeom prst="roundRect">
            <a:avLst/>
          </a:prstGeom>
          <a:solidFill>
            <a:srgbClr val="6457A6"/>
          </a:solidFill>
          <a:ln w="10160">
            <a:solidFill>
              <a:srgbClr val="6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3895344"/>
            <a:ext cx="521207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749039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2248"/>
                </a:solidFill>
                <a:latin typeface="Microsoft YaHei"/>
              </a:rPr>
              <a:t>全四轴运行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032504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8994A3"/>
                </a:solidFill>
                <a:latin typeface="Aptos"/>
              </a:rPr>
              <a:t>Full operation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5440680"/>
            <a:ext cx="10744200" cy="685800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660136"/>
            <a:ext cx="10287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A6BE"/>
                </a:solidFill>
                <a:latin typeface="Aptos"/>
              </a:rPr>
              <a:t>Failure check: </a:t>
            </a:r>
            <a:r>
              <a:rPr sz="1100" b="0" i="0">
                <a:solidFill>
                  <a:srgbClr val="FFFFFF"/>
                </a:solidFill>
                <a:latin typeface="Microsoft YaHei"/>
              </a:rPr>
              <a:t>红色 Range LED → 方向编码错误；启动振荡 → 降低 P 或切换低带宽；信号过低/饱和 → 调整增益或滤光片。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失稳模式、诊断与优化策略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Failure Modes &amp;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92248"/>
                </a:solidFill>
                <a:latin typeface="Microsoft YaHei"/>
              </a:rPr>
              <a:t>将故障现象映射到可操作的诊断路径，是系统工程化的关键。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29968"/>
            <a:ext cx="2514600" cy="475488"/>
          </a:xfrm>
          <a:prstGeom prst="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76272"/>
            <a:ext cx="240487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</a:rPr>
              <a:t>现象 / Symptom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029968"/>
            <a:ext cx="3154680" cy="475488"/>
          </a:xfrm>
          <a:prstGeom prst="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2176272"/>
            <a:ext cx="304495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</a:rPr>
              <a:t>可能原因 / Cause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29968"/>
            <a:ext cx="3794760" cy="475488"/>
          </a:xfrm>
          <a:prstGeom prst="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176272"/>
            <a:ext cx="368503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</a:rPr>
              <a:t>优先措施 /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20" y="2029968"/>
            <a:ext cx="1600200" cy="475488"/>
          </a:xfrm>
          <a:prstGeom prst="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8984" y="2176272"/>
            <a:ext cx="1490472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</a:rPr>
              <a:t>控制目标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05456"/>
            <a:ext cx="25146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" y="2651760"/>
            <a:ext cx="23500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启动后快速跑向边界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505456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6976" y="2651760"/>
            <a:ext cx="29900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x/y direction coding reversed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05456"/>
            <a:ext cx="3794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2651760"/>
            <a:ext cx="3630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反转对应方向开关，重新测试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2505456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86416" y="2651760"/>
            <a:ext cx="14356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90" b="0" i="0">
                <a:solidFill>
                  <a:srgbClr val="4C5665"/>
                </a:solidFill>
                <a:latin typeface="Microsoft YaHei"/>
              </a:rPr>
              <a:t>不越界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127248"/>
            <a:ext cx="251460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5" y="3273552"/>
            <a:ext cx="23500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闭环来回振荡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3127248"/>
            <a:ext cx="315468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6976" y="3273552"/>
            <a:ext cx="29900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P factor 过高 / 机械支撑不稳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127248"/>
            <a:ext cx="379476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3273552"/>
            <a:ext cx="3630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降低 P；必要时选择 low bandwidth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3127248"/>
            <a:ext cx="160020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6416" y="3273552"/>
            <a:ext cx="14356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90" b="0" i="0">
                <a:solidFill>
                  <a:srgbClr val="4C5665"/>
                </a:solidFill>
                <a:latin typeface="Microsoft YaHei"/>
              </a:rPr>
              <a:t>稳定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749040"/>
            <a:ext cx="25146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5" y="3895344"/>
            <a:ext cx="23500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信号饱和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3749040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3895344"/>
            <a:ext cx="29900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光强过高或滤光配置不当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749040"/>
            <a:ext cx="3794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3895344"/>
            <a:ext cx="3630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降低增益、改变滤光片或缩小 ROI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3749040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86416" y="3895344"/>
            <a:ext cx="14356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90" b="0" i="0">
                <a:solidFill>
                  <a:srgbClr val="4C5665"/>
                </a:solidFill>
                <a:latin typeface="Microsoft YaHei"/>
              </a:rPr>
              <a:t>不过曝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370832"/>
            <a:ext cx="251460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5" y="4517136"/>
            <a:ext cx="23500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无法检测光斑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4370832"/>
            <a:ext cx="315468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6976" y="4517136"/>
            <a:ext cx="29900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光路未对准 / detector 偏离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370832"/>
            <a:ext cx="379476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91656" y="4517136"/>
            <a:ext cx="3630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关闭控制级，重新进行开环预对准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04120" y="4370832"/>
            <a:ext cx="1600200" cy="603504"/>
          </a:xfrm>
          <a:prstGeom prst="rect">
            <a:avLst/>
          </a:prstGeom>
          <a:solidFill>
            <a:srgbClr val="EFF7FD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86416" y="4517136"/>
            <a:ext cx="14356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90" b="0" i="0">
                <a:solidFill>
                  <a:srgbClr val="4C5665"/>
                </a:solidFill>
                <a:latin typeface="Microsoft YaHei"/>
              </a:rPr>
              <a:t>可捕获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4992624"/>
            <a:ext cx="25146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5" y="5138928"/>
            <a:ext cx="23500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两级相互影响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4680" y="4992624"/>
            <a:ext cx="31546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6976" y="5138928"/>
            <a:ext cx="29900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控制通道混合或布局不合理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992624"/>
            <a:ext cx="37947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91656" y="5138928"/>
            <a:ext cx="3630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90" b="0" i="0">
                <a:solidFill>
                  <a:srgbClr val="4C5665"/>
                </a:solidFill>
                <a:latin typeface="Microsoft YaHei"/>
              </a:rPr>
              <a:t>分级调试，后续进行灵敏度矩阵标定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04120" y="4992624"/>
            <a:ext cx="16002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86416" y="5138928"/>
            <a:ext cx="143560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90" b="0" i="0">
                <a:solidFill>
                  <a:srgbClr val="4C5665"/>
                </a:solidFill>
                <a:latin typeface="Microsoft YaHei"/>
              </a:rPr>
              <a:t>低串扰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5568" y="5897880"/>
            <a:ext cx="9921240" cy="36576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98448" y="5998464"/>
            <a:ext cx="9555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EB8044"/>
                </a:solidFill>
                <a:latin typeface="Microsoft YaHei"/>
              </a:rPr>
              <a:t>调参顺序建议：方向编码 → 机械稳定性 → P factor → bandwidth → 耦合矩阵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创新点、讨论与显微镜场景迁移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Innovation, Discussion &amp; Microscope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92248"/>
                </a:solidFill>
                <a:latin typeface="Microsoft YaHei"/>
              </a:rPr>
              <a:t>从标准自由空间布局出发，可迁移到显微镜中的“位置—角度”联合稳定。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03120"/>
            <a:ext cx="33832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" y="2359152"/>
            <a:ext cx="530352" cy="530352"/>
          </a:xfrm>
          <a:prstGeom prst="round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532888"/>
            <a:ext cx="530352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2340864"/>
            <a:ext cx="20574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92248"/>
                </a:solidFill>
                <a:latin typeface="Microsoft YaHei"/>
              </a:rPr>
              <a:t>双观测平面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288950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 i="0">
                <a:solidFill>
                  <a:srgbClr val="4C5665"/>
                </a:solidFill>
                <a:latin typeface="Microsoft YaHei"/>
              </a:rPr>
              <a:t>同一束光在两个空间位置被测量，使位置误差与角度误差具备可分辨性。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103120"/>
            <a:ext cx="33832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81728" y="2359152"/>
            <a:ext cx="530352" cy="530352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532888"/>
            <a:ext cx="530352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2340864"/>
            <a:ext cx="20574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92248"/>
                </a:solidFill>
                <a:latin typeface="Microsoft YaHei"/>
              </a:rPr>
              <a:t>两级执行闭环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017520"/>
            <a:ext cx="288950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 i="0">
                <a:solidFill>
                  <a:srgbClr val="4C5665"/>
                </a:solidFill>
                <a:latin typeface="Microsoft YaHei"/>
              </a:rPr>
              <a:t>前级锁定中间镜面位置，后级抑制远端目标平面的角度漂移。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03120"/>
            <a:ext cx="33832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76488" y="2359152"/>
            <a:ext cx="530352" cy="530352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2532888"/>
            <a:ext cx="530352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340864"/>
            <a:ext cx="20574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92248"/>
                </a:solidFill>
                <a:latin typeface="Microsoft YaHei"/>
              </a:rPr>
              <a:t>低延迟模拟控制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017520"/>
            <a:ext cx="288950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 i="0">
                <a:solidFill>
                  <a:srgbClr val="4C5665"/>
                </a:solidFill>
                <a:latin typeface="Microsoft YaHei"/>
              </a:rPr>
              <a:t>文献强调模拟闭环可实现实时补偿，避免明显延迟与阶梯效应。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6537960" cy="1536192"/>
          </a:xfrm>
          <a:prstGeom prst="roundRect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07408"/>
            <a:ext cx="43891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878B8"/>
                </a:solidFill>
                <a:latin typeface="Microsoft YaHei"/>
              </a:rPr>
              <a:t>显微镜迁移建议 / Microscope integration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97280" y="5148072"/>
            <a:ext cx="5257800" cy="0"/>
          </a:xfrm>
          <a:prstGeom prst="line">
            <a:avLst/>
          </a:prstGeom>
          <a:ln w="44450">
            <a:solidFill>
              <a:srgbClr val="00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234440" y="4910328"/>
            <a:ext cx="5486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056632"/>
            <a:ext cx="5486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092248"/>
                </a:solidFill>
                <a:latin typeface="Aptos"/>
              </a:rPr>
              <a:t>Laser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23160" y="4910328"/>
            <a:ext cx="5486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5056632"/>
            <a:ext cx="5486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092248"/>
                </a:solidFill>
                <a:latin typeface="Aptos"/>
              </a:rPr>
              <a:t>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910328"/>
            <a:ext cx="5486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056632"/>
            <a:ext cx="5486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092248"/>
                </a:solidFill>
                <a:latin typeface="Aptos"/>
              </a:rPr>
              <a:t>M2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4910328"/>
            <a:ext cx="5486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3A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5056632"/>
            <a:ext cx="5486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092248"/>
                </a:solidFill>
                <a:latin typeface="Aptos"/>
              </a:rPr>
              <a:t>Detector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910328"/>
            <a:ext cx="5486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5056632"/>
            <a:ext cx="5486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092248"/>
                </a:solidFill>
                <a:latin typeface="Aptos"/>
              </a:rPr>
              <a:t>Sample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486400"/>
            <a:ext cx="5669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4C5665"/>
                </a:solidFill>
                <a:latin typeface="Microsoft YaHei"/>
              </a:rPr>
              <a:t>单平面：先锁相机/样品平面位置
双平面：再引入远端 detector，联合稳定位置与方向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4160520"/>
            <a:ext cx="3886200" cy="1536192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4407408"/>
            <a:ext cx="32004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B8044"/>
                </a:solidFill>
                <a:latin typeface="Microsoft YaHei"/>
              </a:rPr>
              <a:t>讨论 / Discussion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4910328"/>
            <a:ext cx="68580" cy="6858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800600"/>
            <a:ext cx="3044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E2228"/>
                </a:solidFill>
                <a:latin typeface="Microsoft YaHei"/>
              </a:rPr>
              <a:t>文献主要描述系统布局与调试方法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5248656"/>
            <a:ext cx="68580" cy="68580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5138928"/>
            <a:ext cx="3044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E2228"/>
                </a:solidFill>
                <a:latin typeface="Microsoft YaHei"/>
              </a:rPr>
              <a:t>缺少特定显微镜系统的实测闭环数据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438912"/>
            <a:ext cx="11320272" cy="0"/>
          </a:xfrm>
          <a:prstGeom prst="line">
            <a:avLst/>
          </a:prstGeom>
          <a:ln w="12700">
            <a:solidFill>
              <a:srgbClr val="092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38912" y="621792"/>
            <a:ext cx="402336" cy="38404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402336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66928"/>
            <a:ext cx="6858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6858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78B8"/>
                </a:solidFill>
                <a:latin typeface="Aptos"/>
              </a:rPr>
              <a:t>Conclusions &amp;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76656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8994A3"/>
                </a:solidFill>
                <a:latin typeface="Aptos"/>
              </a:rPr>
              <a:t>MRC-inspired optical stabilization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473952"/>
            <a:ext cx="11320272" cy="32004"/>
          </a:xfrm>
          <a:prstGeom prst="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56248"/>
            <a:ext cx="530352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8994A3"/>
                </a:solidFill>
                <a:latin typeface="Aptos"/>
              </a:rPr>
              <a:t>Group Meeting | Active Laser Beam Stabilization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50" b="0" i="0">
                <a:solidFill>
                  <a:srgbClr val="8994A3"/>
                </a:solidFill>
                <a:latin typeface="Aptos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3657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878B8"/>
                </a:solidFill>
                <a:latin typeface="Aptos"/>
              </a:rPr>
              <a:t>Take-home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10469880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92248"/>
                </a:solidFill>
                <a:latin typeface="Microsoft YaHei"/>
              </a:rPr>
              <a:t>四轴主动稳定的核心，是把光束漂移转化为可测、可控、可验证的闭环误差。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43200"/>
            <a:ext cx="106527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871216"/>
            <a:ext cx="347472" cy="347472"/>
          </a:xfrm>
          <a:prstGeom prst="roundRect">
            <a:avLst/>
          </a:prstGeom>
          <a:solidFill>
            <a:srgbClr val="1878B8"/>
          </a:solidFill>
          <a:ln w="10160">
            <a:solidFill>
              <a:srgbClr val="18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347472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871216"/>
            <a:ext cx="31546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2248"/>
                </a:solidFill>
                <a:latin typeface="Microsoft YaHei"/>
              </a:rPr>
              <a:t>位置与方向必须分开观测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98648"/>
            <a:ext cx="6217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4C5665"/>
                </a:solidFill>
                <a:latin typeface="Microsoft YaHei"/>
              </a:rPr>
              <a:t>Detector 1 关注镜面处位置，Detector 2 关注远端方向。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20440"/>
            <a:ext cx="106527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3648456"/>
            <a:ext cx="347472" cy="347472"/>
          </a:xfrm>
          <a:prstGeom prst="roundRect">
            <a:avLst/>
          </a:prstGeom>
          <a:solidFill>
            <a:srgbClr val="25A699"/>
          </a:solidFill>
          <a:ln w="10160">
            <a:solidFill>
              <a:srgbClr val="25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39"/>
            <a:ext cx="347472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648456"/>
            <a:ext cx="31546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2248"/>
                </a:solidFill>
                <a:latin typeface="Microsoft YaHei"/>
              </a:rPr>
              <a:t>调试流程决定闭环可靠性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75888"/>
            <a:ext cx="6217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4C5665"/>
                </a:solidFill>
                <a:latin typeface="Microsoft YaHei"/>
              </a:rPr>
              <a:t>机械稳定、开环预对准、方向编码和逐级调参缺一不可。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97680"/>
            <a:ext cx="106527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4425696"/>
            <a:ext cx="347472" cy="347472"/>
          </a:xfrm>
          <a:prstGeom prst="roundRect">
            <a:avLst/>
          </a:prstGeom>
          <a:solidFill>
            <a:srgbClr val="EB8044"/>
          </a:solidFill>
          <a:ln w="10160">
            <a:solidFill>
              <a:srgbClr val="EB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26280"/>
            <a:ext cx="347472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425696"/>
            <a:ext cx="31546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2248"/>
                </a:solidFill>
                <a:latin typeface="Microsoft YaHei"/>
              </a:rPr>
              <a:t>显微镜应用需要二次验证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453128"/>
            <a:ext cx="6217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4C5665"/>
                </a:solidFill>
                <a:latin typeface="Microsoft YaHei"/>
              </a:rPr>
              <a:t>应结合目标平面、工作距离、样品扰动和相机数据完成实测评估。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57800"/>
            <a:ext cx="10652760" cy="658368"/>
          </a:xfrm>
          <a:prstGeom prst="roundRect">
            <a:avLst/>
          </a:prstGeom>
          <a:solidFill>
            <a:srgbClr val="092248"/>
          </a:solidFill>
          <a:ln w="10160">
            <a:solidFill>
              <a:srgbClr val="092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68112"/>
            <a:ext cx="101041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80" b="1" i="0">
                <a:solidFill>
                  <a:srgbClr val="00A6BE"/>
                </a:solidFill>
                <a:latin typeface="Aptos"/>
              </a:rPr>
              <a:t>Outlook: </a:t>
            </a:r>
            <a:r>
              <a:rPr sz="1180" b="0" i="0">
                <a:solidFill>
                  <a:srgbClr val="FFFFFF"/>
                </a:solidFill>
                <a:latin typeface="Microsoft YaHei"/>
              </a:rPr>
              <a:t>完成双 detector 标定、4×4 灵敏度矩阵辨识、闭环带宽测试，并与显微镜成像质量建立定量关联。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6126480"/>
            <a:ext cx="53949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1878B8"/>
                </a:solidFill>
                <a:latin typeface="Aptos"/>
              </a:rPr>
              <a:t>Thank you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